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9742a773e147dc" /><Relationship Type="http://schemas.openxmlformats.org/officeDocument/2006/relationships/extended-properties" Target="/docProps/app.xml" Id="R8fb3cb9036974fde" /><Relationship Type="http://schemas.openxmlformats.org/officeDocument/2006/relationships/officeDocument" Target="/ppt/presentation.xml" Id="R24fc9390653f40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ca6ac17fcd46be"/>
  </p:sldMasterIdLst>
  <p:notesMasterIdLst>
    <p:notesMasterId xmlns:r="http://schemas.openxmlformats.org/officeDocument/2006/relationships" r:id="R4847522a548f4b35"/>
  </p:notesMasterIdLst>
  <p:sldIdLst>
    <p:sldId xmlns:r="http://schemas.openxmlformats.org/officeDocument/2006/relationships" id="256" r:id="R77ca9b5922124f32"/>
    <p:sldId xmlns:r="http://schemas.openxmlformats.org/officeDocument/2006/relationships" id="257" r:id="R2513acd36cc44f65"/>
    <p:sldId xmlns:r="http://schemas.openxmlformats.org/officeDocument/2006/relationships" id="258" r:id="R5309013d31644e5c"/>
    <p:sldId xmlns:r="http://schemas.openxmlformats.org/officeDocument/2006/relationships" id="259" r:id="Ra7f41159216e4f81"/>
    <p:sldId xmlns:r="http://schemas.openxmlformats.org/officeDocument/2006/relationships" id="260" r:id="R48efc92efd664bda"/>
    <p:sldId xmlns:r="http://schemas.openxmlformats.org/officeDocument/2006/relationships" id="261" r:id="R5f2d5a0968164983"/>
    <p:sldId xmlns:r="http://schemas.openxmlformats.org/officeDocument/2006/relationships" id="262" r:id="R135f5e3521c24f8a"/>
    <p:sldId xmlns:r="http://schemas.openxmlformats.org/officeDocument/2006/relationships" id="263" r:id="Rf44e2481d88e4c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de73f22144a80" /><Relationship Type="http://schemas.openxmlformats.org/officeDocument/2006/relationships/slideMaster" Target="/ppt/slideMasters/slideMaster1.xml" Id="R09ca6ac17fcd46be" /><Relationship Type="http://schemas.openxmlformats.org/officeDocument/2006/relationships/notesMaster" Target="/ppt/notesMasters/notesMaster1.xml" Id="R4847522a548f4b35" /><Relationship Type="http://schemas.openxmlformats.org/officeDocument/2006/relationships/presProps" Target="/ppt/presProps.xml" Id="Rc74a09791a4b46f9" /><Relationship Type="http://schemas.openxmlformats.org/officeDocument/2006/relationships/tableStyles" Target="/ppt/tableStyles.xml" Id="R0e66953daa2b4212" /><Relationship Type="http://schemas.openxmlformats.org/officeDocument/2006/relationships/slide" Target="/ppt/slides/slide1.xml" Id="R77ca9b5922124f32" /><Relationship Type="http://schemas.openxmlformats.org/officeDocument/2006/relationships/slide" Target="/ppt/slides/slide2.xml" Id="R2513acd36cc44f65" /><Relationship Type="http://schemas.openxmlformats.org/officeDocument/2006/relationships/slide" Target="/ppt/slides/slide3.xml" Id="R5309013d31644e5c" /><Relationship Type="http://schemas.openxmlformats.org/officeDocument/2006/relationships/slide" Target="/ppt/slides/slide4.xml" Id="Ra7f41159216e4f81" /><Relationship Type="http://schemas.openxmlformats.org/officeDocument/2006/relationships/slide" Target="/ppt/slides/slide5.xml" Id="R48efc92efd664bda" /><Relationship Type="http://schemas.openxmlformats.org/officeDocument/2006/relationships/slide" Target="/ppt/slides/slide6.xml" Id="R5f2d5a0968164983" /><Relationship Type="http://schemas.openxmlformats.org/officeDocument/2006/relationships/slide" Target="/ppt/slides/slide7.xml" Id="R135f5e3521c24f8a" /><Relationship Type="http://schemas.openxmlformats.org/officeDocument/2006/relationships/slide" Target="/ppt/slides/slide8.xml" Id="Rf44e2481d88e4c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7bd81ef73841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115852cf14d34" /><Relationship Type="http://schemas.openxmlformats.org/officeDocument/2006/relationships/notesMaster" Target="/ppt/notesMasters/notesMaster1.xml" Id="R403b26d8c0e945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a317acd32242b0" /><Relationship Type="http://schemas.openxmlformats.org/officeDocument/2006/relationships/notesMaster" Target="/ppt/notesMasters/notesMaster1.xml" Id="R292d77aa860941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a75178608c43ef" /><Relationship Type="http://schemas.openxmlformats.org/officeDocument/2006/relationships/notesMaster" Target="/ppt/notesMasters/notesMaster1.xml" Id="R95126ada0b9342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4aefa26b224be0" /><Relationship Type="http://schemas.openxmlformats.org/officeDocument/2006/relationships/notesMaster" Target="/ppt/notesMasters/notesMaster1.xml" Id="Ra2c7b0ec79bd40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ef0653ab434b39" /><Relationship Type="http://schemas.openxmlformats.org/officeDocument/2006/relationships/notesMaster" Target="/ppt/notesMasters/notesMaster1.xml" Id="R979d256d1cae4c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8f9c9d7fa645c8" /><Relationship Type="http://schemas.openxmlformats.org/officeDocument/2006/relationships/notesMaster" Target="/ppt/notesMasters/notesMaster1.xml" Id="R2e9e7132d69747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f2952db0054382" /><Relationship Type="http://schemas.openxmlformats.org/officeDocument/2006/relationships/notesMaster" Target="/ppt/notesMasters/notesMaster1.xml" Id="R0e5e0db520554f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f84996ca294b2e" /><Relationship Type="http://schemas.openxmlformats.org/officeDocument/2006/relationships/notesMaster" Target="/ppt/notesMasters/notesMaster1.xml" Id="R3fcd4df289a64c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claims or assets; this is an illustrative AMSoft proposal template.</a:t>
            </a:r>
          </a:p>
          <a:p xmlns:a="http://schemas.openxmlformats.org/drawingml/2006/main">
            <a:r>
              <a:t>- Research framework: https://developers.google.com/search/docs/essentials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Search Essentials: https://developers.google.com/search/docs/essentials</a:t>
            </a:r>
          </a:p>
          <a:p xmlns:a="http://schemas.openxmlformats.org/drawingml/2006/main">
            <a:r>
              <a:t>- Search performance evidence can be connected to business outcomes through defined measurement: https://developers.google.com/webmaster-tools/v1/searchanalytics/query</a:t>
            </a:r>
          </a:p>
          <a:p xmlns:a="http://schemas.openxmlformats.org/drawingml/2006/main">
            <a:r>
              <a:t>- The central quote is an AMSoft proposal principle, not an externally sourced statistic.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WordPress data seam: https://developer.wordpress.org/rest-api/</a:t>
            </a:r>
          </a:p>
          <a:p xmlns:a="http://schemas.openxmlformats.org/drawingml/2006/main">
            <a:r>
              <a:t>- Search performance data seam: https://developers.google.com/webmaster-tools/v1/searchanalytics/query</a:t>
            </a:r>
          </a:p>
          <a:p xmlns:a="http://schemas.openxmlformats.org/drawingml/2006/main">
            <a:r>
              <a:t>- The four-pass sequence is the AMSoft growth-audit framework included with this plugin.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Competitor discovery method reference: https://www.semrush.com/kb/844-discover-competitors/</a:t>
            </a:r>
          </a:p>
          <a:p xmlns:a="http://schemas.openxmlformats.org/drawingml/2006/main">
            <a:r>
              <a:t>- Content-gap method reference: https://help.ahrefs.com/en/articles/9025740-how-to-use-content-gap-to-find-keyword-ideas-from-competitor-websites</a:t>
            </a:r>
          </a:p>
          <a:p xmlns:a="http://schemas.openxmlformats.org/drawingml/2006/main">
            <a:r>
              <a:t>- The three competitor categories and qualification gate are the AMSoft framework; no competitor is asserted for a real market in this illustrative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People-first content should provide original information and substantial value: https://developers.google.com/search/docs/fundamentals/creating-helpful-content</a:t>
            </a:r>
          </a:p>
          <a:p xmlns:a="http://schemas.openxmlformats.org/drawingml/2006/main">
            <a:r>
              <a:t>- Google Search Essentials and spam policies set the originality and people-first boundary: https://developers.google.com/search/docs/essentials</a:t>
            </a:r>
          </a:p>
          <a:p xmlns:a="http://schemas.openxmlformats.org/drawingml/2006/main">
            <a:r>
              <a:t>- The gap equation and six lenses are the AMSoft growth-audit framework, not a ranking formula.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Measurement dimensions available through Search Analytics: https://developers.google.com/webmaster-tools/v1/searchanalytics/query</a:t>
            </a:r>
          </a:p>
          <a:p xmlns:a="http://schemas.openxmlformats.org/drawingml/2006/main">
            <a:r>
              <a:t>- People-first and non-manipulative content boundary: https://developers.google.com/search/docs/fundamentals/creating-helpful-content</a:t>
            </a:r>
          </a:p>
          <a:p xmlns:a="http://schemas.openxmlformats.org/drawingml/2006/main">
            <a:r>
              <a:t>- The sequence and ordinal prioritization rules are the AMSoft growth-audit framework; no impact estimate is presented without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 four deliverables are defined by the AMSoft WordPress SEO and growth-audit workflow.</a:t>
            </a:r>
          </a:p>
          <a:p xmlns:a="http://schemas.openxmlformats.org/drawingml/2006/main">
            <a:r>
              <a:t>- The editable deck is created as a PowerPoint file using the local presentation workflow; research source conventions: https://developers.google.com/search/docs/essentials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claims or assets; this is an illustrative close for the AMSoft proposal template.</a:t>
            </a:r>
          </a:p>
          <a:p xmlns:a="http://schemas.openxmlformats.org/drawingml/2006/main">
            <a:r>
              <a:t>- The access boundary follows the WordPress REST and SEO workflow safety rules: https://developer.wordpress.org/rest-api/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7f7ba853841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c3a24485b94377" /><Relationship Type="http://schemas.openxmlformats.org/officeDocument/2006/relationships/slideLayout" Target="/ppt/slideLayouts/slideLayout1.xml" Id="Rcd4d7d512e3b44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4d7d512e3b44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260add0954d74" /><Relationship Type="http://schemas.openxmlformats.org/officeDocument/2006/relationships/notesSlide" Target="/ppt/notesSlides/notesSlide1.xml" Id="R1ff4f09e49b742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0449673d547a8" /><Relationship Type="http://schemas.openxmlformats.org/officeDocument/2006/relationships/notesSlide" Target="/ppt/notesSlides/notesSlide2.xml" Id="Rbb9bb6ae3cca44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0bec2f591479f" /><Relationship Type="http://schemas.openxmlformats.org/officeDocument/2006/relationships/notesSlide" Target="/ppt/notesSlides/notesSlide3.xml" Id="R652eecb54b8e44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9c790b562423a" /><Relationship Type="http://schemas.openxmlformats.org/officeDocument/2006/relationships/notesSlide" Target="/ppt/notesSlides/notesSlide4.xml" Id="Rcaf5c692d0af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c3beb67694d30" /><Relationship Type="http://schemas.openxmlformats.org/officeDocument/2006/relationships/notesSlide" Target="/ppt/notesSlides/notesSlide5.xml" Id="R22e5cc1f673949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6dcfdac7145c7" /><Relationship Type="http://schemas.openxmlformats.org/officeDocument/2006/relationships/notesSlide" Target="/ppt/notesSlides/notesSlide6.xml" Id="R9872f20aaaf642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50cc511dc45eb" /><Relationship Type="http://schemas.openxmlformats.org/officeDocument/2006/relationships/notesSlide" Target="/ppt/notesSlides/notesSlide7.xml" Id="Rb5a18d61e47645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2f30de9a540b9" /><Relationship Type="http://schemas.openxmlformats.org/officeDocument/2006/relationships/notesSlide" Target="/ppt/notesSlides/notesSlide8.xml" Id="Rfa70f8dfd0e049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D9A8AD4-CD5B-4EA0-924D-359731E3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orange">
            <a:extLst xmlns:a="http://schemas.openxmlformats.org/drawingml/2006/main">
              <a:ext uri="{FF2B5EF4-FFF2-40B4-BE49-F238E27FC236}">
                <a16:creationId xmlns:a16="http://schemas.microsoft.com/office/drawing/2014/main" id="{EFDC7FDE-0A09-4F89-8762-A9F48059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DD2BA9-338F-4F39-8DC9-9E4D0CF0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C7D9"/>
                </a:solidFill>
              </a:defRPr>
            </a:pPr>
            <a:r>
              <a:rPr sz="1125" b="1">
                <a:solidFill>
                  <a:srgbClr val="B5C7D9"/>
                </a:solidFill>
              </a:rPr>
              <a:t>AMSOFT  /  PROPOSAL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0A1D632-A2CE-4B7E-B057-06363D5E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676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Search-led growth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for AMSoft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4AA34AC-574C-4A2C-B322-79C7D386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7D6E4"/>
                </a:solidFill>
              </a:defRPr>
            </a:pPr>
            <a:r>
              <a:rPr sz="1875">
                <a:solidFill>
                  <a:srgbClr val="C7D6E4"/>
                </a:solidFill>
              </a:rPr>
              <a:t>SEO &amp; competitor content-gap audit</a:t>
            </a:r>
          </a:p>
        </p:txBody>
      </p:sp>
      <p:sp>
        <p:nvSpPr>
          <p:cNvPr id="6" name="cover-prepared">
            <a:extLst xmlns:a="http://schemas.openxmlformats.org/drawingml/2006/main">
              <a:ext uri="{FF2B5EF4-FFF2-40B4-BE49-F238E27FC236}">
                <a16:creationId xmlns:a16="http://schemas.microsoft.com/office/drawing/2014/main" id="{C35D6843-6C25-4699-A7C1-E73936DD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5C7D9"/>
                </a:solidFill>
              </a:defRPr>
            </a:pPr>
            <a:r>
              <a:rPr sz="1275">
                <a:solidFill>
                  <a:srgbClr val="B5C7D9"/>
                </a:solidFill>
              </a:rPr>
              <a:t>Prepared by AMSoft  ·  August 2026</a:t>
            </a:r>
          </a:p>
        </p:txBody>
      </p:sp>
      <p:sp>
        <p:nvSpPr>
          <p:cNvPr id="7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EB4A7A66-4C25-4028-827E-3B03F382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8C28"/>
                </a:solidFill>
              </a:defRPr>
            </a:pPr>
            <a:r>
              <a:rPr sz="1650" b="1">
                <a:solidFill>
                  <a:srgbClr val="F28C28"/>
                </a:solidFill>
              </a:rPr>
              <a:t>A decision-ready path from search evidence to growth action.</a:t>
            </a:r>
          </a:p>
        </p:txBody>
      </p:sp>
    </p:spTree>
    <p:extLst>
      <p:ext uri="{BB962C8B-B14F-4D97-AF65-F5344CB8AC3E}">
        <p14:creationId xmlns:p14="http://schemas.microsoft.com/office/powerpoint/2010/main" val="1395418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08903E49-BF34-43A5-BFFE-16BB303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8C8C"/>
                </a:solidFill>
              </a:defRPr>
            </a:pPr>
            <a:r>
              <a:rPr sz="1050" b="1">
                <a:solidFill>
                  <a:srgbClr val="0E8C8C"/>
                </a:solidFill>
              </a:rPr>
              <a:t>01  /  WHY THIS WORK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581010-2AE2-41AE-BFAF-536E093F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33B"/>
                </a:solidFill>
              </a:defRPr>
            </a:pPr>
            <a:r>
              <a:rPr sz="2850" b="1">
                <a:solidFill>
                  <a:srgbClr val="15233B"/>
                </a:solidFill>
              </a:rPr>
              <a:t>The audit should end in a growth decision.</a:t>
            </a:r>
          </a:p>
        </p:txBody>
      </p:sp>
      <p:sp>
        <p:nvSpPr>
          <p:cNvPr id="3" name="outcome-intro">
            <a:extLst xmlns:a="http://schemas.openxmlformats.org/drawingml/2006/main">
              <a:ext uri="{FF2B5EF4-FFF2-40B4-BE49-F238E27FC236}">
                <a16:creationId xmlns:a16="http://schemas.microsoft.com/office/drawing/2014/main" id="{A0A8BC2B-8886-4075-8257-096EDD6D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33B"/>
                </a:solidFill>
              </a:defRPr>
            </a:pPr>
            <a:r>
              <a:rPr sz="2175" b="1">
                <a:solidFill>
                  <a:srgbClr val="15233B"/>
                </a:solidFill>
              </a:rPr>
              <a:t>Visibility is a means. The point is to help the right people discover, trust, and choose the business.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ADEB36CA-BA69-4DA0-B9DF-5C47DE5B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8C8C"/>
                </a:solidFill>
              </a:defRPr>
            </a:pPr>
            <a:r>
              <a:rPr sz="1800" b="1">
                <a:solidFill>
                  <a:srgbClr val="0E8C8C"/>
                </a:solidFill>
              </a:rPr>
              <a:t>01</a:t>
            </a:r>
          </a:p>
        </p:txBody>
      </p:sp>
      <p:sp>
        <p:nvSpPr>
          <p:cNvPr id="5" name="heading-1">
            <a:extLst xmlns:a="http://schemas.openxmlformats.org/drawingml/2006/main">
              <a:ext uri="{FF2B5EF4-FFF2-40B4-BE49-F238E27FC236}">
                <a16:creationId xmlns:a16="http://schemas.microsoft.com/office/drawing/2014/main" id="{D2066FEF-5CE7-4C00-AF0D-77AB9E22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28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33B"/>
                </a:solidFill>
              </a:defRPr>
            </a:pPr>
            <a:r>
              <a:rPr sz="1650" b="1">
                <a:solidFill>
                  <a:srgbClr val="15233B"/>
                </a:solidFill>
              </a:rPr>
              <a:t>Find the lost demand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85B5C2B9-9959-4A0D-8BF2-2DA8792A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813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Where searchers are looking, and where the current site is not helping them.</a:t>
            </a:r>
          </a:p>
        </p:txBody>
      </p:sp>
      <p:sp>
        <p:nvSpPr>
          <p:cNvPr id="7" name="rule-1">
            <a:extLst xmlns:a="http://schemas.openxmlformats.org/drawingml/2006/main">
              <a:ext uri="{FF2B5EF4-FFF2-40B4-BE49-F238E27FC236}">
                <a16:creationId xmlns:a16="http://schemas.microsoft.com/office/drawing/2014/main" id="{96C29857-36EB-4598-94DB-D62417CD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7F8AEC6-3B3F-47ED-86E5-B10A709A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8C28"/>
                </a:solidFill>
              </a:defRPr>
            </a:pPr>
            <a:r>
              <a:rPr sz="1800" b="1">
                <a:solidFill>
                  <a:srgbClr val="F28C28"/>
                </a:solidFill>
              </a:rPr>
              <a:t>02</a:t>
            </a:r>
          </a:p>
        </p:txBody>
      </p:sp>
      <p:sp>
        <p:nvSpPr>
          <p:cNvPr id="9" name="heading-2">
            <a:extLst xmlns:a="http://schemas.openxmlformats.org/drawingml/2006/main">
              <a:ext uri="{FF2B5EF4-FFF2-40B4-BE49-F238E27FC236}">
                <a16:creationId xmlns:a16="http://schemas.microsoft.com/office/drawing/2014/main" id="{1DA8F1E0-8E03-44AC-8A79-2AE49BCE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33B"/>
                </a:solidFill>
              </a:defRPr>
            </a:pPr>
            <a:r>
              <a:rPr sz="1650" b="1">
                <a:solidFill>
                  <a:srgbClr val="15233B"/>
                </a:solidFill>
              </a:rPr>
              <a:t>Find the useful gap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6E093A47-DFFE-4B44-83B6-DC65A43A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Where competitors answer a reader task, but leave room for a more valuable contribution.</a:t>
            </a:r>
          </a:p>
        </p:txBody>
      </p:sp>
      <p:sp>
        <p:nvSpPr>
          <p:cNvPr id="11" name="rule-2">
            <a:extLst xmlns:a="http://schemas.openxmlformats.org/drawingml/2006/main">
              <a:ext uri="{FF2B5EF4-FFF2-40B4-BE49-F238E27FC236}">
                <a16:creationId xmlns:a16="http://schemas.microsoft.com/office/drawing/2014/main" id="{D91E1AE4-7855-47CD-B584-6043BF89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86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number-3">
            <a:extLst xmlns:a="http://schemas.openxmlformats.org/drawingml/2006/main">
              <a:ext uri="{FF2B5EF4-FFF2-40B4-BE49-F238E27FC236}">
                <a16:creationId xmlns:a16="http://schemas.microsoft.com/office/drawing/2014/main" id="{368FF88F-68C1-49E1-A722-B063BF51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23D"/>
                </a:solidFill>
              </a:defRPr>
            </a:pPr>
            <a:r>
              <a:rPr sz="1800" b="1">
                <a:solidFill>
                  <a:srgbClr val="13223D"/>
                </a:solidFill>
              </a:rPr>
              <a:t>03</a:t>
            </a:r>
          </a:p>
        </p:txBody>
      </p:sp>
      <p:sp>
        <p:nvSpPr>
          <p:cNvPr id="13" name="heading-3">
            <a:extLst xmlns:a="http://schemas.openxmlformats.org/drawingml/2006/main">
              <a:ext uri="{FF2B5EF4-FFF2-40B4-BE49-F238E27FC236}">
                <a16:creationId xmlns:a16="http://schemas.microsoft.com/office/drawing/2014/main" id="{71FD1030-1DB8-4FAF-BBFE-5353CF2C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244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33B"/>
                </a:solidFill>
              </a:defRPr>
            </a:pPr>
            <a:r>
              <a:rPr sz="1650" b="1">
                <a:solidFill>
                  <a:srgbClr val="15233B"/>
                </a:solidFill>
              </a:rPr>
              <a:t>Choose the next move</a:t>
            </a:r>
          </a:p>
        </p:txBody>
      </p:sp>
      <p:sp>
        <p:nvSpPr>
          <p:cNvPr id="14" name="body-3">
            <a:extLst xmlns:a="http://schemas.openxmlformats.org/drawingml/2006/main">
              <a:ext uri="{FF2B5EF4-FFF2-40B4-BE49-F238E27FC236}">
                <a16:creationId xmlns:a16="http://schemas.microsoft.com/office/drawing/2014/main" id="{02395502-C935-4FE6-A4A8-BAF84AF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768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What to fix, strengthen, create, or test against a business outcome.</a:t>
            </a:r>
          </a:p>
        </p:txBody>
      </p:sp>
      <p:sp>
        <p:nvSpPr>
          <p:cNvPr id="15" name="rule-3">
            <a:extLst xmlns:a="http://schemas.openxmlformats.org/drawingml/2006/main">
              <a:ext uri="{FF2B5EF4-FFF2-40B4-BE49-F238E27FC236}">
                <a16:creationId xmlns:a16="http://schemas.microsoft.com/office/drawing/2014/main" id="{07ECF628-FDF1-4F10-A784-889FB318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341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outcome-quote">
            <a:extLst xmlns:a="http://schemas.openxmlformats.org/drawingml/2006/main">
              <a:ext uri="{FF2B5EF4-FFF2-40B4-BE49-F238E27FC236}">
                <a16:creationId xmlns:a16="http://schemas.microsoft.com/office/drawing/2014/main" id="{BB80D53D-AEC9-4B90-97B4-A38FDE4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3943350" cy="384810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utcome-quote-mark">
            <a:extLst xmlns:a="http://schemas.openxmlformats.org/drawingml/2006/main">
              <a:ext uri="{FF2B5EF4-FFF2-40B4-BE49-F238E27FC236}">
                <a16:creationId xmlns:a16="http://schemas.microsoft.com/office/drawing/2014/main" id="{A1928456-0FE3-43AB-A8FA-30F24048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240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28C28"/>
                </a:solidFill>
              </a:defRPr>
            </a:pPr>
            <a:r>
              <a:rPr sz="4800" b="1">
                <a:solidFill>
                  <a:srgbClr val="F28C28"/>
                </a:solidFill>
              </a:rPr>
              <a:t>“</a:t>
            </a:r>
          </a:p>
        </p:txBody>
      </p:sp>
      <p:sp>
        <p:nvSpPr>
          <p:cNvPr id="18" name="outcome-quote-text">
            <a:extLst xmlns:a="http://schemas.openxmlformats.org/drawingml/2006/main">
              <a:ext uri="{FF2B5EF4-FFF2-40B4-BE49-F238E27FC236}">
                <a16:creationId xmlns:a16="http://schemas.microsoft.com/office/drawing/2014/main" id="{B419B30A-FB97-4CE9-8AE9-20C82F0C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 strong audit makes the next decision easier — not merely the report longer.</a:t>
            </a:r>
          </a:p>
        </p:txBody>
      </p:sp>
      <p:sp>
        <p:nvSpPr>
          <p:cNvPr id="19" name="outcome-quote-note">
            <a:extLst xmlns:a="http://schemas.openxmlformats.org/drawingml/2006/main">
              <a:ext uri="{FF2B5EF4-FFF2-40B4-BE49-F238E27FC236}">
                <a16:creationId xmlns:a16="http://schemas.microsoft.com/office/drawing/2014/main" id="{4D35A5F6-B2F5-428F-A1D7-2498ADE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86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5C7D9"/>
                </a:solidFill>
              </a:defRPr>
            </a:pPr>
            <a:r>
              <a:rPr sz="1125">
                <a:solidFill>
                  <a:srgbClr val="B5C7D9"/>
                </a:solidFill>
              </a:rPr>
              <a:t>AMSoft proposal principle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1AA72A-611E-439A-AC45-51D9BB64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E2C9555-2D2F-431B-A72F-2EB2E59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AMSOFT  /  SEO &amp; GROWTH</a:t>
            </a:r>
          </a:p>
        </p:txBody>
      </p:sp>
      <p:sp>
        <p:nvSpPr>
          <p:cNvPr id="22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3427462D-8214-4E05-A17F-E0C91DDF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WHY THIS WORK</a:t>
            </a:r>
          </a:p>
        </p:txBody>
      </p:sp>
    </p:spTree>
    <p:extLst>
      <p:ext uri="{BB962C8B-B14F-4D97-AF65-F5344CB8AC3E}">
        <p14:creationId xmlns:p14="http://schemas.microsoft.com/office/powerpoint/2010/main" val="2099153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18DEC39C-7EA8-4EC4-BFAE-6E224342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8C28"/>
                </a:solidFill>
              </a:defRPr>
            </a:pPr>
            <a:r>
              <a:rPr sz="1050" b="1">
                <a:solidFill>
                  <a:srgbClr val="F28C28"/>
                </a:solidFill>
              </a:rPr>
              <a:t>02  /  THE APPROACH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9ADB02-C68E-4330-B046-1DC817F2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We connect the site, the market, and the next action.</a:t>
            </a:r>
          </a:p>
        </p:txBody>
      </p:sp>
      <p:sp>
        <p:nvSpPr>
          <p:cNvPr id="3" name="method-intro">
            <a:extLst xmlns:a="http://schemas.openxmlformats.org/drawingml/2006/main">
              <a:ext uri="{FF2B5EF4-FFF2-40B4-BE49-F238E27FC236}">
                <a16:creationId xmlns:a16="http://schemas.microsoft.com/office/drawing/2014/main" id="{6CF7CA8E-DA35-4750-9978-F7EEE965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5C7D9"/>
                </a:solidFill>
              </a:defRPr>
            </a:pPr>
            <a:r>
              <a:rPr sz="1650">
                <a:solidFill>
                  <a:srgbClr val="B5C7D9"/>
                </a:solidFill>
              </a:rPr>
              <a:t>Four bounded passes keep the work rigorous enough to act on and light enough to repeat.</a:t>
            </a:r>
          </a:p>
        </p:txBody>
      </p:sp>
      <p:sp>
        <p:nvSpPr>
          <p:cNvPr id="4" name="method-connector-1">
            <a:extLst xmlns:a="http://schemas.openxmlformats.org/drawingml/2006/main">
              <a:ext uri="{FF2B5EF4-FFF2-40B4-BE49-F238E27FC236}">
                <a16:creationId xmlns:a16="http://schemas.microsoft.com/office/drawing/2014/main" id="{F13EE287-9C3E-4F81-AAD8-EA6FC159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38425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506C"/>
            </a:solidFill>
            <a:prstDash val="solid"/>
          </a:ln>
        </p:spPr>
      </p:sp>
      <p:sp>
        <p:nvSpPr>
          <p:cNvPr id="5" name="method-connector-2">
            <a:extLst xmlns:a="http://schemas.openxmlformats.org/drawingml/2006/main">
              <a:ext uri="{FF2B5EF4-FFF2-40B4-BE49-F238E27FC236}">
                <a16:creationId xmlns:a16="http://schemas.microsoft.com/office/drawing/2014/main" id="{44FA2408-2013-428B-BD01-E6205424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38425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506C"/>
            </a:solidFill>
            <a:prstDash val="solid"/>
          </a:ln>
        </p:spPr>
      </p:sp>
      <p:sp>
        <p:nvSpPr>
          <p:cNvPr id="6" name="method-connector-3">
            <a:extLst xmlns:a="http://schemas.openxmlformats.org/drawingml/2006/main">
              <a:ext uri="{FF2B5EF4-FFF2-40B4-BE49-F238E27FC236}">
                <a16:creationId xmlns:a16="http://schemas.microsoft.com/office/drawing/2014/main" id="{D058D4D0-9CF3-4C5F-B865-5125EEC3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38425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506C"/>
            </a:solidFill>
            <a:prstDash val="solid"/>
          </a:ln>
        </p:spPr>
      </p:sp>
      <p:sp>
        <p:nvSpPr>
          <p:cNvPr id="7" name="step-dot-1">
            <a:extLst xmlns:a="http://schemas.openxmlformats.org/drawingml/2006/main">
              <a:ext uri="{FF2B5EF4-FFF2-40B4-BE49-F238E27FC236}">
                <a16:creationId xmlns:a16="http://schemas.microsoft.com/office/drawing/2014/main" id="{74369C60-99B8-4E94-BF7C-92334F94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ECC9276-6407-45DF-BE97-D5BCD7C5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86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F46256B4-4E4F-4C78-B917-4E2BE374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EA07287-32D2-4376-B4E6-BB4EDB8A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54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5C7D9"/>
                </a:solidFill>
              </a:defRPr>
            </a:pPr>
            <a:r>
              <a:rPr sz="1200">
                <a:solidFill>
                  <a:srgbClr val="B5C7D9"/>
                </a:solidFill>
              </a:rPr>
              <a:t>Technical, indexability, content, analytics</a:t>
            </a:r>
          </a:p>
        </p:txBody>
      </p:sp>
      <p:sp>
        <p:nvSpPr>
          <p:cNvPr id="11" name="step-dot-2">
            <a:extLst xmlns:a="http://schemas.openxmlformats.org/drawingml/2006/main">
              <a:ext uri="{FF2B5EF4-FFF2-40B4-BE49-F238E27FC236}">
                <a16:creationId xmlns:a16="http://schemas.microsoft.com/office/drawing/2014/main" id="{55D685A2-33A1-4B27-8F67-2E1F941B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622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6EE8CC9-6E43-4AF2-9290-97FE01E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86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1B425A97-896C-447D-8CB9-33C9EB5A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04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Qualify</a:t>
            </a:r>
          </a:p>
        </p:txBody>
      </p:sp>
      <p:sp>
        <p:nvSpPr>
          <p:cNvPr id="14" name="step-body-2">
            <a:extLst xmlns:a="http://schemas.openxmlformats.org/drawingml/2006/main">
              <a:ext uri="{FF2B5EF4-FFF2-40B4-BE49-F238E27FC236}">
                <a16:creationId xmlns:a16="http://schemas.microsoft.com/office/drawing/2014/main" id="{866D0BB6-8BC8-4F7F-8E13-147A240F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38550"/>
            <a:ext cx="154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5C7D9"/>
                </a:solidFill>
              </a:defRPr>
            </a:pPr>
            <a:r>
              <a:rPr sz="1200">
                <a:solidFill>
                  <a:srgbClr val="B5C7D9"/>
                </a:solidFill>
              </a:rPr>
              <a:t>Commercial, search, and audience alternatives</a:t>
            </a:r>
          </a:p>
        </p:txBody>
      </p:sp>
      <p:sp>
        <p:nvSpPr>
          <p:cNvPr id="15" name="step-dot-3">
            <a:extLst xmlns:a="http://schemas.openxmlformats.org/drawingml/2006/main">
              <a:ext uri="{FF2B5EF4-FFF2-40B4-BE49-F238E27FC236}">
                <a16:creationId xmlns:a16="http://schemas.microsoft.com/office/drawing/2014/main" id="{C8F0E60D-67F2-4D64-8F5D-A106BDDF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82C0BBF6-640C-4E21-A5BA-1DD08904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86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DCD92C1C-4267-4C31-A619-FADD41C2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8" name="step-body-3">
            <a:extLst xmlns:a="http://schemas.openxmlformats.org/drawingml/2006/main">
              <a:ext uri="{FF2B5EF4-FFF2-40B4-BE49-F238E27FC236}">
                <a16:creationId xmlns:a16="http://schemas.microsoft.com/office/drawing/2014/main" id="{0E74AE81-10A8-4043-A075-D72285B5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38550"/>
            <a:ext cx="154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5C7D9"/>
                </a:solidFill>
              </a:defRPr>
            </a:pPr>
            <a:r>
              <a:rPr sz="1200">
                <a:solidFill>
                  <a:srgbClr val="B5C7D9"/>
                </a:solidFill>
              </a:rPr>
              <a:t>Competitor evidence and reader-task gaps</a:t>
            </a:r>
          </a:p>
        </p:txBody>
      </p:sp>
      <p:sp>
        <p:nvSpPr>
          <p:cNvPr id="19" name="step-dot-4">
            <a:extLst xmlns:a="http://schemas.openxmlformats.org/drawingml/2006/main">
              <a:ext uri="{FF2B5EF4-FFF2-40B4-BE49-F238E27FC236}">
                <a16:creationId xmlns:a16="http://schemas.microsoft.com/office/drawing/2014/main" id="{AD8985A7-1603-4839-8EE2-CC4D3BEE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4860586B-6F45-42FD-A324-5BEB553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86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540E1AD3-7B15-45FA-A159-EE874DBF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Prioritize</a:t>
            </a:r>
          </a:p>
        </p:txBody>
      </p:sp>
      <p:sp>
        <p:nvSpPr>
          <p:cNvPr id="22" name="step-body-4">
            <a:extLst xmlns:a="http://schemas.openxmlformats.org/drawingml/2006/main">
              <a:ext uri="{FF2B5EF4-FFF2-40B4-BE49-F238E27FC236}">
                <a16:creationId xmlns:a16="http://schemas.microsoft.com/office/drawing/2014/main" id="{520B7FEF-9092-4984-B290-79A0563B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154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5C7D9"/>
                </a:solidFill>
              </a:defRPr>
            </a:pPr>
            <a:r>
              <a:rPr sz="1200">
                <a:solidFill>
                  <a:srgbClr val="B5C7D9"/>
                </a:solidFill>
              </a:rPr>
              <a:t>A sequenced roadmap with explicit confidence</a:t>
            </a:r>
          </a:p>
        </p:txBody>
      </p:sp>
      <p:sp>
        <p:nvSpPr>
          <p:cNvPr id="23" name="method-footnote">
            <a:extLst xmlns:a="http://schemas.openxmlformats.org/drawingml/2006/main">
              <a:ext uri="{FF2B5EF4-FFF2-40B4-BE49-F238E27FC236}">
                <a16:creationId xmlns:a16="http://schemas.microsoft.com/office/drawing/2014/main" id="{279235E4-DA61-4FDB-9425-CCB723ED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8C28"/>
                </a:solidFill>
              </a:defRPr>
            </a:pPr>
            <a:r>
              <a:rPr sz="1650" b="1">
                <a:solidFill>
                  <a:srgbClr val="F28C28"/>
                </a:solidFill>
              </a:rPr>
              <a:t>Evidence → meaning → decision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4DE9686-764C-4821-8014-FB126CF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C"/>
            </a:solidFill>
            <a:prstDash val="solid"/>
          </a:ln>
        </p:spPr>
      </p:sp>
      <p:sp>
        <p:nvSpPr>
          <p:cNvPr id="2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CC50D6A-F156-42DC-B084-79AED81B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AMSOFT  /  SEO &amp; GROWTH</a:t>
            </a:r>
          </a:p>
        </p:txBody>
      </p:sp>
      <p:sp>
        <p:nvSpPr>
          <p:cNvPr id="2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ABF5CD3C-A642-48B5-9F54-D43DF666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THE APPROACH</a:t>
            </a:r>
          </a:p>
        </p:txBody>
      </p:sp>
    </p:spTree>
    <p:extLst>
      <p:ext uri="{BB962C8B-B14F-4D97-AF65-F5344CB8AC3E}">
        <p14:creationId xmlns:p14="http://schemas.microsoft.com/office/powerpoint/2010/main" val="765467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1C31AC80-3D38-41C3-B48F-EE4D4020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8C8C"/>
                </a:solidFill>
              </a:defRPr>
            </a:pPr>
            <a:r>
              <a:rPr sz="1050" b="1">
                <a:solidFill>
                  <a:srgbClr val="0E8C8C"/>
                </a:solidFill>
              </a:rPr>
              <a:t>03  /  MARKET 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58047E-3FBF-4C7A-96E9-7F14FC3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33B"/>
                </a:solidFill>
              </a:defRPr>
            </a:pPr>
            <a:r>
              <a:rPr sz="2850" b="1">
                <a:solidFill>
                  <a:srgbClr val="15233B"/>
                </a:solidFill>
              </a:rPr>
              <a:t>Competitors are qualified before they are compared.</a:t>
            </a:r>
          </a:p>
        </p:txBody>
      </p:sp>
      <p:sp>
        <p:nvSpPr>
          <p:cNvPr id="3" name="competitor-intro">
            <a:extLst xmlns:a="http://schemas.openxmlformats.org/drawingml/2006/main">
              <a:ext uri="{FF2B5EF4-FFF2-40B4-BE49-F238E27FC236}">
                <a16:creationId xmlns:a16="http://schemas.microsoft.com/office/drawing/2014/main" id="{D2A61CD1-7913-4ED0-B76A-144F6E2A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A"/>
                </a:solidFill>
              </a:defRPr>
            </a:pPr>
            <a:r>
              <a:rPr sz="1725">
                <a:solidFill>
                  <a:srgbClr val="52627A"/>
                </a:solidFill>
              </a:rPr>
              <a:t>A useful competitor set reflects how people choose — not only shared keyword overlap.</a:t>
            </a:r>
          </a:p>
        </p:txBody>
      </p:sp>
      <p:sp>
        <p:nvSpPr>
          <p:cNvPr id="4" name="column-rule-1">
            <a:extLst xmlns:a="http://schemas.openxmlformats.org/drawingml/2006/main">
              <a:ext uri="{FF2B5EF4-FFF2-40B4-BE49-F238E27FC236}">
                <a16:creationId xmlns:a16="http://schemas.microsoft.com/office/drawing/2014/main" id="{7D6645C2-8F7B-4412-A8C9-8373868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lumn-heading-1">
            <a:extLst xmlns:a="http://schemas.openxmlformats.org/drawingml/2006/main">
              <a:ext uri="{FF2B5EF4-FFF2-40B4-BE49-F238E27FC236}">
                <a16:creationId xmlns:a16="http://schemas.microsoft.com/office/drawing/2014/main" id="{9F8F7AC0-B4C7-47FD-AB64-61466729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33B"/>
                </a:solidFill>
              </a:defRPr>
            </a:pPr>
            <a:r>
              <a:rPr sz="1800" b="1">
                <a:solidFill>
                  <a:srgbClr val="15233B"/>
                </a:solidFill>
              </a:rPr>
              <a:t>Commercial</a:t>
            </a:r>
          </a:p>
        </p:txBody>
      </p:sp>
      <p:sp>
        <p:nvSpPr>
          <p:cNvPr id="6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B6F5BA46-FDFF-4113-A9C6-27C41FAA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Businesses that could win the same work, budget, or enquiry.</a:t>
            </a:r>
          </a:p>
        </p:txBody>
      </p:sp>
      <p:sp>
        <p:nvSpPr>
          <p:cNvPr id="7" name="column-rule-2">
            <a:extLst xmlns:a="http://schemas.openxmlformats.org/drawingml/2006/main">
              <a:ext uri="{FF2B5EF4-FFF2-40B4-BE49-F238E27FC236}">
                <a16:creationId xmlns:a16="http://schemas.microsoft.com/office/drawing/2014/main" id="{22947DC6-B6A9-41D6-B3EC-26FE6E85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lumn-heading-2">
            <a:extLst xmlns:a="http://schemas.openxmlformats.org/drawingml/2006/main">
              <a:ext uri="{FF2B5EF4-FFF2-40B4-BE49-F238E27FC236}">
                <a16:creationId xmlns:a16="http://schemas.microsoft.com/office/drawing/2014/main" id="{339AF20B-626F-4B81-AA02-EC152D17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33B"/>
                </a:solidFill>
              </a:defRPr>
            </a:pPr>
            <a:r>
              <a:rPr sz="1800" b="1">
                <a:solidFill>
                  <a:srgbClr val="15233B"/>
                </a:solidFill>
              </a:rPr>
              <a:t>Search</a:t>
            </a:r>
          </a:p>
        </p:txBody>
      </p:sp>
      <p:sp>
        <p:nvSpPr>
          <p:cNvPr id="9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333C6A51-FFAE-40A8-A4AA-7239545D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Domains that win the same high-intent result page or reader task.</a:t>
            </a:r>
          </a:p>
        </p:txBody>
      </p:sp>
      <p:sp>
        <p:nvSpPr>
          <p:cNvPr id="10" name="column-rule-3">
            <a:extLst xmlns:a="http://schemas.openxmlformats.org/drawingml/2006/main">
              <a:ext uri="{FF2B5EF4-FFF2-40B4-BE49-F238E27FC236}">
                <a16:creationId xmlns:a16="http://schemas.microsoft.com/office/drawing/2014/main" id="{2166AC27-BF56-4ECD-B2C3-C3B211B2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lumn-heading-3">
            <a:extLst xmlns:a="http://schemas.openxmlformats.org/drawingml/2006/main">
              <a:ext uri="{FF2B5EF4-FFF2-40B4-BE49-F238E27FC236}">
                <a16:creationId xmlns:a16="http://schemas.microsoft.com/office/drawing/2014/main" id="{360D273F-22A2-4B48-9AFA-7722C26D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33B"/>
                </a:solidFill>
              </a:defRPr>
            </a:pPr>
            <a:r>
              <a:rPr sz="1800" b="1">
                <a:solidFill>
                  <a:srgbClr val="15233B"/>
                </a:solidFill>
              </a:rPr>
              <a:t>Audience alternatives</a:t>
            </a:r>
          </a:p>
        </p:txBody>
      </p:sp>
      <p:sp>
        <p:nvSpPr>
          <p:cNvPr id="12" name="column-body-3">
            <a:extLst xmlns:a="http://schemas.openxmlformats.org/drawingml/2006/main">
              <a:ext uri="{FF2B5EF4-FFF2-40B4-BE49-F238E27FC236}">
                <a16:creationId xmlns:a16="http://schemas.microsoft.com/office/drawing/2014/main" id="{F0D750EF-F8A4-401C-8E6E-C0D323A0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A different way the audience solves the same need.</a:t>
            </a:r>
          </a:p>
        </p:txBody>
      </p:sp>
      <p:sp>
        <p:nvSpPr>
          <p:cNvPr id="13" name="competitor-conclusion">
            <a:extLst xmlns:a="http://schemas.openxmlformats.org/drawingml/2006/main">
              <a:ext uri="{FF2B5EF4-FFF2-40B4-BE49-F238E27FC236}">
                <a16:creationId xmlns:a16="http://schemas.microsoft.com/office/drawing/2014/main" id="{572C9DFA-E534-409A-9786-49735CEB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etitor-conclusion-text">
            <a:extLst xmlns:a="http://schemas.openxmlformats.org/drawingml/2006/main">
              <a:ext uri="{FF2B5EF4-FFF2-40B4-BE49-F238E27FC236}">
                <a16:creationId xmlns:a16="http://schemas.microsoft.com/office/drawing/2014/main" id="{B7CFB953-5AAE-4641-A3B5-FE53052E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33B"/>
                </a:solidFill>
              </a:defRPr>
            </a:pPr>
            <a:r>
              <a:rPr sz="1725" b="1">
                <a:solidFill>
                  <a:srgbClr val="15233B"/>
                </a:solidFill>
              </a:rPr>
              <a:t>The comparison starts only after the relationship is clear: audience need + business relevance + evidence.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294F7E8-9977-43FF-97B5-87432FFE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02647F6-5606-4AA9-A4AA-942A17D6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AMSOFT  /  SEO &amp; GROWTH</a:t>
            </a:r>
          </a:p>
        </p:txBody>
      </p:sp>
      <p:sp>
        <p:nvSpPr>
          <p:cNvPr id="1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ED19A3BB-38CD-4D0D-BBE8-2B4722EE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MARKET VIEW</a:t>
            </a:r>
          </a:p>
        </p:txBody>
      </p:sp>
    </p:spTree>
    <p:extLst>
      <p:ext uri="{BB962C8B-B14F-4D97-AF65-F5344CB8AC3E}">
        <p14:creationId xmlns:p14="http://schemas.microsoft.com/office/powerpoint/2010/main" val="1821350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C8459571-6F59-4E8D-A531-3027333D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8C8C"/>
                </a:solidFill>
              </a:defRPr>
            </a:pPr>
            <a:r>
              <a:rPr sz="1050" b="1">
                <a:solidFill>
                  <a:srgbClr val="0E8C8C"/>
                </a:solidFill>
              </a:rPr>
              <a:t>04  /  OPPORTUNITY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90149D-6216-42EF-8CCD-69352CC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33B"/>
                </a:solidFill>
              </a:defRPr>
            </a:pPr>
            <a:r>
              <a:rPr sz="2850" b="1">
                <a:solidFill>
                  <a:srgbClr val="15233B"/>
                </a:solidFill>
              </a:rPr>
              <a:t>A content gap is an unmet reader task.</a:t>
            </a:r>
          </a:p>
        </p:txBody>
      </p:sp>
      <p:sp>
        <p:nvSpPr>
          <p:cNvPr id="3" name="gap-equation-surface">
            <a:extLst xmlns:a="http://schemas.openxmlformats.org/drawingml/2006/main">
              <a:ext uri="{FF2B5EF4-FFF2-40B4-BE49-F238E27FC236}">
                <a16:creationId xmlns:a16="http://schemas.microsoft.com/office/drawing/2014/main" id="{3363AA45-EB6B-4C5A-A1CF-5268C4B3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6286500" cy="28956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ap-equation">
            <a:extLst xmlns:a="http://schemas.openxmlformats.org/drawingml/2006/main">
              <a:ext uri="{FF2B5EF4-FFF2-40B4-BE49-F238E27FC236}">
                <a16:creationId xmlns:a16="http://schemas.microsoft.com/office/drawing/2014/main" id="{1CFF98A6-7904-4EC8-8F74-2066365B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4667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Audience need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Current weakness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Original contribution</a:t>
            </a:r>
          </a:p>
        </p:txBody>
      </p:sp>
      <p:sp>
        <p:nvSpPr>
          <p:cNvPr id="5" name="gap-result">
            <a:extLst xmlns:a="http://schemas.openxmlformats.org/drawingml/2006/main">
              <a:ext uri="{FF2B5EF4-FFF2-40B4-BE49-F238E27FC236}">
                <a16:creationId xmlns:a16="http://schemas.microsoft.com/office/drawing/2014/main" id="{1BE0B5CA-2394-49B3-858B-3B1A16AB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8C28"/>
                </a:solidFill>
              </a:defRPr>
            </a:pPr>
            <a:r>
              <a:rPr sz="1575" b="1">
                <a:solidFill>
                  <a:srgbClr val="F28C28"/>
                </a:solidFill>
              </a:rPr>
              <a:t>= credible opportunity</a:t>
            </a:r>
          </a:p>
        </p:txBody>
      </p:sp>
      <p:sp>
        <p:nvSpPr>
          <p:cNvPr id="6" name="gap-lenses-heading">
            <a:extLst xmlns:a="http://schemas.openxmlformats.org/drawingml/2006/main">
              <a:ext uri="{FF2B5EF4-FFF2-40B4-BE49-F238E27FC236}">
                <a16:creationId xmlns:a16="http://schemas.microsoft.com/office/drawing/2014/main" id="{40D33508-5CEB-476D-ABD9-4452DDEB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33B"/>
                </a:solidFill>
              </a:defRPr>
            </a:pPr>
            <a:r>
              <a:rPr sz="1875" b="1">
                <a:solidFill>
                  <a:srgbClr val="15233B"/>
                </a:solidFill>
              </a:rPr>
              <a:t>We look for value in the task, not volume in the page.</a:t>
            </a:r>
          </a:p>
        </p:txBody>
      </p:sp>
      <p:sp>
        <p:nvSpPr>
          <p:cNvPr id="7" name="gap-lenses">
            <a:extLst xmlns:a="http://schemas.openxmlformats.org/drawingml/2006/main">
              <a:ext uri="{FF2B5EF4-FFF2-40B4-BE49-F238E27FC236}">
                <a16:creationId xmlns:a16="http://schemas.microsoft.com/office/drawing/2014/main" id="{7F3512B4-1EA3-4C2E-A951-3F0F7319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286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8C8C"/>
                </a:solidFill>
              </a:defRPr>
            </a:pPr>
            <a:r>
              <a:rPr sz="1650">
                <a:solidFill>
                  <a:srgbClr val="0E8C8C"/>
                </a:solidFill>
              </a:rPr>
              <a:t>Coverage</a:t>
            </a:r>
          </a:p>
          <a:p xmlns:a="http://schemas.openxmlformats.org/drawingml/2006/main">
            <a:pPr>
              <a:defRPr sz="1650">
                <a:solidFill>
                  <a:srgbClr val="0E8C8C"/>
                </a:solidFill>
              </a:defRPr>
            </a:pPr>
            <a:r>
              <a:rPr sz="1650">
                <a:solidFill>
                  <a:srgbClr val="0E8C8C"/>
                </a:solidFill>
              </a:rPr>
              <a:t>Depth</a:t>
            </a:r>
          </a:p>
          <a:p xmlns:a="http://schemas.openxmlformats.org/drawingml/2006/main">
            <a:pPr>
              <a:defRPr sz="1650">
                <a:solidFill>
                  <a:srgbClr val="0E8C8C"/>
                </a:solidFill>
              </a:defRPr>
            </a:pPr>
            <a:r>
              <a:rPr sz="1650">
                <a:solidFill>
                  <a:srgbClr val="0E8C8C"/>
                </a:solidFill>
              </a:rPr>
              <a:t>Experience</a:t>
            </a:r>
          </a:p>
          <a:p xmlns:a="http://schemas.openxmlformats.org/drawingml/2006/main">
            <a:pPr>
              <a:defRPr sz="1650">
                <a:solidFill>
                  <a:srgbClr val="0E8C8C"/>
                </a:solidFill>
              </a:defRPr>
            </a:pPr>
            <a:r>
              <a:rPr sz="1650">
                <a:solidFill>
                  <a:srgbClr val="0E8C8C"/>
                </a:solidFill>
              </a:rPr>
              <a:t>Trust</a:t>
            </a:r>
          </a:p>
          <a:p xmlns:a="http://schemas.openxmlformats.org/drawingml/2006/main">
            <a:pPr>
              <a:defRPr sz="1650">
                <a:solidFill>
                  <a:srgbClr val="0E8C8C"/>
                </a:solidFill>
              </a:defRPr>
            </a:pPr>
            <a:r>
              <a:rPr sz="1650">
                <a:solidFill>
                  <a:srgbClr val="0E8C8C"/>
                </a:solidFill>
              </a:rPr>
              <a:t>Format</a:t>
            </a:r>
          </a:p>
          <a:p xmlns:a="http://schemas.openxmlformats.org/drawingml/2006/main">
            <a:pPr>
              <a:defRPr sz="1650">
                <a:solidFill>
                  <a:srgbClr val="0E8C8C"/>
                </a:solidFill>
              </a:defRPr>
            </a:pPr>
            <a:r>
              <a:rPr sz="1650">
                <a:solidFill>
                  <a:srgbClr val="0E8C8C"/>
                </a:solidFill>
              </a:rPr>
              <a:t>Journey</a:t>
            </a:r>
          </a:p>
        </p:txBody>
      </p:sp>
      <p:sp>
        <p:nvSpPr>
          <p:cNvPr id="8" name="gap-reject">
            <a:extLst xmlns:a="http://schemas.openxmlformats.org/drawingml/2006/main">
              <a:ext uri="{FF2B5EF4-FFF2-40B4-BE49-F238E27FC236}">
                <a16:creationId xmlns:a16="http://schemas.microsoft.com/office/drawing/2014/main" id="{FE5EE076-1541-4DC7-9DFB-ED856859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8C28"/>
                </a:solidFill>
              </a:defRPr>
            </a:pPr>
            <a:r>
              <a:rPr sz="1425" b="1">
                <a:solidFill>
                  <a:srgbClr val="F28C28"/>
                </a:solidFill>
              </a:rPr>
              <a:t>We reject copy-first recommendations.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6782E97-E4B9-4323-991C-D6ABBD39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EEBE8D1-2317-4342-B244-80A1AF4A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AMSOFT  /  SEO &amp; GROWTH</a:t>
            </a:r>
          </a:p>
        </p:txBody>
      </p:sp>
      <p:sp>
        <p:nvSpPr>
          <p:cNvPr id="11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E7BE0F97-155F-4175-9853-A132E9C9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OPPORTUNITY</a:t>
            </a:r>
          </a:p>
        </p:txBody>
      </p:sp>
    </p:spTree>
    <p:extLst>
      <p:ext uri="{BB962C8B-B14F-4D97-AF65-F5344CB8AC3E}">
        <p14:creationId xmlns:p14="http://schemas.microsoft.com/office/powerpoint/2010/main" val="551349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4D5DE693-AF55-495A-B2C3-813FCB06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8C8C"/>
                </a:solidFill>
              </a:defRPr>
            </a:pPr>
            <a:r>
              <a:rPr sz="1050" b="1">
                <a:solidFill>
                  <a:srgbClr val="0E8C8C"/>
                </a:solidFill>
              </a:rPr>
              <a:t>05  /  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DD07F8-46A5-47DC-8C70-106E8DAD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33B"/>
                </a:solidFill>
              </a:defRPr>
            </a:pPr>
            <a:r>
              <a:rPr sz="2850" b="1">
                <a:solidFill>
                  <a:srgbClr val="15233B"/>
                </a:solidFill>
              </a:rPr>
              <a:t>The output is a sequence the team can act on.</a:t>
            </a:r>
          </a:p>
        </p:txBody>
      </p:sp>
      <p:sp>
        <p:nvSpPr>
          <p:cNvPr id="3" name="roadmap-intro">
            <a:extLst xmlns:a="http://schemas.openxmlformats.org/drawingml/2006/main">
              <a:ext uri="{FF2B5EF4-FFF2-40B4-BE49-F238E27FC236}">
                <a16:creationId xmlns:a16="http://schemas.microsoft.com/office/drawing/2014/main" id="{F07B6F83-5918-412A-98C0-0567A6F5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27A"/>
                </a:solidFill>
              </a:defRPr>
            </a:pPr>
            <a:r>
              <a:rPr sz="1650">
                <a:solidFill>
                  <a:srgbClr val="52627A"/>
                </a:solidFill>
              </a:rPr>
              <a:t>Priorities stay ordinal and explainable: blockers first, then the work with the clearest user and business case.</a:t>
            </a:r>
          </a:p>
        </p:txBody>
      </p:sp>
      <p:sp>
        <p:nvSpPr>
          <p:cNvPr id="4" name="roadmap-spine">
            <a:extLst xmlns:a="http://schemas.openxmlformats.org/drawingml/2006/main">
              <a:ext uri="{FF2B5EF4-FFF2-40B4-BE49-F238E27FC236}">
                <a16:creationId xmlns:a16="http://schemas.microsoft.com/office/drawing/2014/main" id="{65533CDC-2A56-419C-A4E1-FE37AD84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077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0E8"/>
            </a:solidFill>
            <a:prstDash val="solid"/>
          </a:ln>
        </p:spPr>
      </p:sp>
      <p:sp>
        <p:nvSpPr>
          <p:cNvPr id="5" name="roadmap-mark-1">
            <a:extLst xmlns:a="http://schemas.openxmlformats.org/drawingml/2006/main">
              <a:ext uri="{FF2B5EF4-FFF2-40B4-BE49-F238E27FC236}">
                <a16:creationId xmlns:a16="http://schemas.microsoft.com/office/drawing/2014/main" id="{ECB5154D-BAC9-4942-8B75-3B2A86E3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admap-heading-1">
            <a:extLst xmlns:a="http://schemas.openxmlformats.org/drawingml/2006/main">
              <a:ext uri="{FF2B5EF4-FFF2-40B4-BE49-F238E27FC236}">
                <a16:creationId xmlns:a16="http://schemas.microsoft.com/office/drawing/2014/main" id="{28263F71-0857-424C-B5B7-30979D66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33B"/>
                </a:solidFill>
              </a:defRPr>
            </a:pPr>
            <a:r>
              <a:rPr sz="1725" b="1">
                <a:solidFill>
                  <a:srgbClr val="15233B"/>
                </a:solidFill>
              </a:rPr>
              <a:t>Fix blockers</a:t>
            </a:r>
          </a:p>
        </p:txBody>
      </p:sp>
      <p:sp>
        <p:nvSpPr>
          <p:cNvPr id="7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23794D8B-C4C0-41F9-B983-B775B1B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032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Resolve indexability, rendering, access, and measurement issues that would hide later gains.</a:t>
            </a:r>
          </a:p>
        </p:txBody>
      </p:sp>
      <p:sp>
        <p:nvSpPr>
          <p:cNvPr id="8" name="roadmap-mark-2">
            <a:extLst xmlns:a="http://schemas.openxmlformats.org/drawingml/2006/main">
              <a:ext uri="{FF2B5EF4-FFF2-40B4-BE49-F238E27FC236}">
                <a16:creationId xmlns:a16="http://schemas.microsoft.com/office/drawing/2014/main" id="{354AB331-0CB6-4FBD-AD90-63383C43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admap-heading-2">
            <a:extLst xmlns:a="http://schemas.openxmlformats.org/drawingml/2006/main">
              <a:ext uri="{FF2B5EF4-FFF2-40B4-BE49-F238E27FC236}">
                <a16:creationId xmlns:a16="http://schemas.microsoft.com/office/drawing/2014/main" id="{B1CCA1FF-9BCD-454A-8BC9-B5536D3A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33B"/>
                </a:solidFill>
              </a:defRPr>
            </a:pPr>
            <a:r>
              <a:rPr sz="1725" b="1">
                <a:solidFill>
                  <a:srgbClr val="15233B"/>
                </a:solidFill>
              </a:rPr>
              <a:t>Strengthen existing assets</a:t>
            </a:r>
          </a:p>
        </p:txBody>
      </p:sp>
      <p:sp>
        <p:nvSpPr>
          <p:cNvPr id="10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8D2C874C-09A0-4885-BA50-5A79061E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Improve pages already close to the audience need before multiplying the footprint.</a:t>
            </a:r>
          </a:p>
        </p:txBody>
      </p:sp>
      <p:sp>
        <p:nvSpPr>
          <p:cNvPr id="11" name="roadmap-mark-3">
            <a:extLst xmlns:a="http://schemas.openxmlformats.org/drawingml/2006/main">
              <a:ext uri="{FF2B5EF4-FFF2-40B4-BE49-F238E27FC236}">
                <a16:creationId xmlns:a16="http://schemas.microsoft.com/office/drawing/2014/main" id="{3037B0FE-E792-4735-96B4-BAFDEA69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heading-3">
            <a:extLst xmlns:a="http://schemas.openxmlformats.org/drawingml/2006/main">
              <a:ext uri="{FF2B5EF4-FFF2-40B4-BE49-F238E27FC236}">
                <a16:creationId xmlns:a16="http://schemas.microsoft.com/office/drawing/2014/main" id="{AE18659E-7AD6-4B8D-83D0-5D023CAD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33B"/>
                </a:solidFill>
              </a:defRPr>
            </a:pPr>
            <a:r>
              <a:rPr sz="1725" b="1">
                <a:solidFill>
                  <a:srgbClr val="15233B"/>
                </a:solidFill>
              </a:rPr>
              <a:t>Fill validated gaps</a:t>
            </a:r>
          </a:p>
        </p:txBody>
      </p:sp>
      <p:sp>
        <p:nvSpPr>
          <p:cNvPr id="13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556B8FDE-760E-4B29-90B2-4B75BE32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Create or refresh content only where the reader task and original contribution are clear.</a:t>
            </a:r>
          </a:p>
        </p:txBody>
      </p:sp>
      <p:sp>
        <p:nvSpPr>
          <p:cNvPr id="14" name="roadmap-mark-4">
            <a:extLst xmlns:a="http://schemas.openxmlformats.org/drawingml/2006/main">
              <a:ext uri="{FF2B5EF4-FFF2-40B4-BE49-F238E27FC236}">
                <a16:creationId xmlns:a16="http://schemas.microsoft.com/office/drawing/2014/main" id="{2E9339DC-20AF-474B-83D0-8344C752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admap-heading-4">
            <a:extLst xmlns:a="http://schemas.openxmlformats.org/drawingml/2006/main">
              <a:ext uri="{FF2B5EF4-FFF2-40B4-BE49-F238E27FC236}">
                <a16:creationId xmlns:a16="http://schemas.microsoft.com/office/drawing/2014/main" id="{F9EADD3F-CCE2-423B-AF49-3C72069D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33B"/>
                </a:solidFill>
              </a:defRPr>
            </a:pPr>
            <a:r>
              <a:rPr sz="1725" b="1">
                <a:solidFill>
                  <a:srgbClr val="15233B"/>
                </a:solidFill>
              </a:rPr>
              <a:t>Test and learn</a:t>
            </a:r>
          </a:p>
        </p:txBody>
      </p:sp>
      <p:sp>
        <p:nvSpPr>
          <p:cNvPr id="16" name="roadmap-body-4">
            <a:extLst xmlns:a="http://schemas.openxmlformats.org/drawingml/2006/main">
              <a:ext uri="{FF2B5EF4-FFF2-40B4-BE49-F238E27FC236}">
                <a16:creationId xmlns:a16="http://schemas.microsoft.com/office/drawing/2014/main" id="{446C7DA8-2DBF-4F07-9EAF-EE42CE19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Measure leading indicators and business outcomes over an agreed review window.</a:t>
            </a:r>
          </a:p>
        </p:txBody>
      </p:sp>
      <p:sp>
        <p:nvSpPr>
          <p:cNvPr id="17" name="roadmap-callout">
            <a:extLst xmlns:a="http://schemas.openxmlformats.org/drawingml/2006/main">
              <a:ext uri="{FF2B5EF4-FFF2-40B4-BE49-F238E27FC236}">
                <a16:creationId xmlns:a16="http://schemas.microsoft.com/office/drawing/2014/main" id="{CCF13139-35B7-4400-B4E2-7788436D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3028950" cy="310515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admap-callout-title">
            <a:extLst xmlns:a="http://schemas.openxmlformats.org/drawingml/2006/main">
              <a:ext uri="{FF2B5EF4-FFF2-40B4-BE49-F238E27FC236}">
                <a16:creationId xmlns:a16="http://schemas.microsoft.com/office/drawing/2014/main" id="{575FAE18-FD7C-464F-9577-1FB18B06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38425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33B"/>
                </a:solidFill>
              </a:defRPr>
            </a:pPr>
            <a:r>
              <a:rPr sz="2025" b="1">
                <a:solidFill>
                  <a:srgbClr val="15233B"/>
                </a:solidFill>
              </a:rPr>
              <a:t>No synthetic universal score.</a:t>
            </a:r>
          </a:p>
        </p:txBody>
      </p:sp>
      <p:sp>
        <p:nvSpPr>
          <p:cNvPr id="19" name="roadmap-callout-body">
            <a:extLst xmlns:a="http://schemas.openxmlformats.org/drawingml/2006/main">
              <a:ext uri="{FF2B5EF4-FFF2-40B4-BE49-F238E27FC236}">
                <a16:creationId xmlns:a16="http://schemas.microsoft.com/office/drawing/2014/main" id="{E27DAAF9-2564-4AE0-9B52-3119F82F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24275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27A"/>
                </a:solidFill>
              </a:defRPr>
            </a:pPr>
            <a:r>
              <a:rPr sz="1425">
                <a:solidFill>
                  <a:srgbClr val="52627A"/>
                </a:solidFill>
              </a:rPr>
              <a:t>Each opportunity carries its evidence, uncertainty, effort, risk, and the next measurement step.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09FB76-4E1C-4CF4-8E87-BDACEB2C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BBC6833-1F0B-4F73-968E-601F1FE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AMSOFT  /  SEO &amp; GROWTH</a:t>
            </a:r>
          </a:p>
        </p:txBody>
      </p:sp>
      <p:sp>
        <p:nvSpPr>
          <p:cNvPr id="22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3727FDF-65D3-474C-B484-D5CA5B7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2131322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1F3E992D-B56A-4102-B489-0D591C96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8C28"/>
                </a:solidFill>
              </a:defRPr>
            </a:pPr>
            <a:r>
              <a:rPr sz="1050" b="1">
                <a:solidFill>
                  <a:srgbClr val="F28C28"/>
                </a:solidFill>
              </a:rPr>
              <a:t>06  /  DELIVERABLE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F48D3D-4D1E-4495-AFCD-7289043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AMSoft delivers a proposal, not a scorecard.</a:t>
            </a:r>
          </a:p>
        </p:txBody>
      </p:sp>
      <p:sp>
        <p:nvSpPr>
          <p:cNvPr id="3" name="deliverable-number-1">
            <a:extLst xmlns:a="http://schemas.openxmlformats.org/drawingml/2006/main">
              <a:ext uri="{FF2B5EF4-FFF2-40B4-BE49-F238E27FC236}">
                <a16:creationId xmlns:a16="http://schemas.microsoft.com/office/drawing/2014/main" id="{715E6E6E-72DF-465C-8B5C-7B5EA806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8C28"/>
                </a:solidFill>
              </a:defRPr>
            </a:pPr>
            <a:r>
              <a:rPr sz="1575" b="1">
                <a:solidFill>
                  <a:srgbClr val="F28C28"/>
                </a:solidFill>
              </a:rPr>
              <a:t>01</a:t>
            </a:r>
          </a:p>
        </p:txBody>
      </p:sp>
      <p:sp>
        <p:nvSpPr>
          <p:cNvPr id="4" name="deliverable-heading-1">
            <a:extLst xmlns:a="http://schemas.openxmlformats.org/drawingml/2006/main">
              <a:ext uri="{FF2B5EF4-FFF2-40B4-BE49-F238E27FC236}">
                <a16:creationId xmlns:a16="http://schemas.microsoft.com/office/drawing/2014/main" id="{FA20546B-23FE-4617-A98C-D5020C35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62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SEO &amp; growth audit report</a:t>
            </a:r>
          </a:p>
        </p:txBody>
      </p:sp>
      <p:sp>
        <p:nvSpPr>
          <p:cNvPr id="5" name="deliverable-body-1">
            <a:extLst xmlns:a="http://schemas.openxmlformats.org/drawingml/2006/main">
              <a:ext uri="{FF2B5EF4-FFF2-40B4-BE49-F238E27FC236}">
                <a16:creationId xmlns:a16="http://schemas.microsoft.com/office/drawing/2014/main" id="{EBBA3C61-F42D-4880-8794-23D1B719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050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5C7D9"/>
                </a:solidFill>
              </a:defRPr>
            </a:pPr>
            <a:r>
              <a:rPr sz="1275">
                <a:solidFill>
                  <a:srgbClr val="B5C7D9"/>
                </a:solidFill>
              </a:rPr>
              <a:t>Baseline findings, evidence bounds, risks, and decisions.</a:t>
            </a:r>
          </a:p>
        </p:txBody>
      </p:sp>
      <p:sp>
        <p:nvSpPr>
          <p:cNvPr id="6" name="deliverable-rule-1">
            <a:extLst xmlns:a="http://schemas.openxmlformats.org/drawingml/2006/main">
              <a:ext uri="{FF2B5EF4-FFF2-40B4-BE49-F238E27FC236}">
                <a16:creationId xmlns:a16="http://schemas.microsoft.com/office/drawing/2014/main" id="{B3A93FC8-ADB8-4F6E-A01A-62F8DD69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03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C"/>
            </a:solidFill>
            <a:prstDash val="solid"/>
          </a:ln>
        </p:spPr>
      </p:sp>
      <p:sp>
        <p:nvSpPr>
          <p:cNvPr id="7" name="deliverable-number-2">
            <a:extLst xmlns:a="http://schemas.openxmlformats.org/drawingml/2006/main">
              <a:ext uri="{FF2B5EF4-FFF2-40B4-BE49-F238E27FC236}">
                <a16:creationId xmlns:a16="http://schemas.microsoft.com/office/drawing/2014/main" id="{DC3E90A3-0B3A-48F4-9349-469386C6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8C28"/>
                </a:solidFill>
              </a:defRPr>
            </a:pPr>
            <a:r>
              <a:rPr sz="1575" b="1">
                <a:solidFill>
                  <a:srgbClr val="F28C28"/>
                </a:solidFill>
              </a:rPr>
              <a:t>02</a:t>
            </a:r>
          </a:p>
        </p:txBody>
      </p:sp>
      <p:sp>
        <p:nvSpPr>
          <p:cNvPr id="8" name="deliverable-heading-2">
            <a:extLst xmlns:a="http://schemas.openxmlformats.org/drawingml/2006/main">
              <a:ext uri="{FF2B5EF4-FFF2-40B4-BE49-F238E27FC236}">
                <a16:creationId xmlns:a16="http://schemas.microsoft.com/office/drawing/2014/main" id="{13B49F13-AB4F-43DC-BB5A-7F52A44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908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Competitor qualification ledger</a:t>
            </a:r>
          </a:p>
        </p:txBody>
      </p:sp>
      <p:sp>
        <p:nvSpPr>
          <p:cNvPr id="9" name="deliverable-body-2">
            <a:extLst xmlns:a="http://schemas.openxmlformats.org/drawingml/2006/main">
              <a:ext uri="{FF2B5EF4-FFF2-40B4-BE49-F238E27FC236}">
                <a16:creationId xmlns:a16="http://schemas.microsoft.com/office/drawing/2014/main" id="{7162A7BF-D788-4D55-82E6-AE69D092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5C7D9"/>
                </a:solidFill>
              </a:defRPr>
            </a:pPr>
            <a:r>
              <a:rPr sz="1275">
                <a:solidFill>
                  <a:srgbClr val="B5C7D9"/>
                </a:solidFill>
              </a:rPr>
              <a:t>Why each competitor belongs in the comparison and what was observed.</a:t>
            </a:r>
          </a:p>
        </p:txBody>
      </p:sp>
      <p:sp>
        <p:nvSpPr>
          <p:cNvPr id="10" name="deliverable-rule-2">
            <a:extLst xmlns:a="http://schemas.openxmlformats.org/drawingml/2006/main">
              <a:ext uri="{FF2B5EF4-FFF2-40B4-BE49-F238E27FC236}">
                <a16:creationId xmlns:a16="http://schemas.microsoft.com/office/drawing/2014/main" id="{561051EB-F8ED-4AF9-A051-160CDB50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290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C"/>
            </a:solidFill>
            <a:prstDash val="solid"/>
          </a:ln>
        </p:spPr>
      </p:sp>
      <p:sp>
        <p:nvSpPr>
          <p:cNvPr id="11" name="deliverable-number-3">
            <a:extLst xmlns:a="http://schemas.openxmlformats.org/drawingml/2006/main">
              <a:ext uri="{FF2B5EF4-FFF2-40B4-BE49-F238E27FC236}">
                <a16:creationId xmlns:a16="http://schemas.microsoft.com/office/drawing/2014/main" id="{FD0CD87F-D78C-4768-9DB9-4845B1B2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8C28"/>
                </a:solidFill>
              </a:defRPr>
            </a:pPr>
            <a:r>
              <a:rPr sz="1575" b="1">
                <a:solidFill>
                  <a:srgbClr val="F28C28"/>
                </a:solidFill>
              </a:rPr>
              <a:t>03</a:t>
            </a:r>
          </a:p>
        </p:txBody>
      </p:sp>
      <p:sp>
        <p:nvSpPr>
          <p:cNvPr id="12" name="deliverable-heading-3">
            <a:extLst xmlns:a="http://schemas.openxmlformats.org/drawingml/2006/main">
              <a:ext uri="{FF2B5EF4-FFF2-40B4-BE49-F238E27FC236}">
                <a16:creationId xmlns:a16="http://schemas.microsoft.com/office/drawing/2014/main" id="{FDF25BC9-F8B8-400B-8888-E5A278F7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Content-gap matrix + briefs</a:t>
            </a:r>
          </a:p>
        </p:txBody>
      </p:sp>
      <p:sp>
        <p:nvSpPr>
          <p:cNvPr id="13" name="deliverable-body-3">
            <a:extLst xmlns:a="http://schemas.openxmlformats.org/drawingml/2006/main">
              <a:ext uri="{FF2B5EF4-FFF2-40B4-BE49-F238E27FC236}">
                <a16:creationId xmlns:a16="http://schemas.microsoft.com/office/drawing/2014/main" id="{63543EDE-BC4E-43AE-9010-B809ABBD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624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5C7D9"/>
                </a:solidFill>
              </a:defRPr>
            </a:pPr>
            <a:r>
              <a:rPr sz="1275">
                <a:solidFill>
                  <a:srgbClr val="B5C7D9"/>
                </a:solidFill>
              </a:rPr>
              <a:t>Reader tasks, missing value, originality gate, and recommended action.</a:t>
            </a:r>
          </a:p>
        </p:txBody>
      </p:sp>
      <p:sp>
        <p:nvSpPr>
          <p:cNvPr id="14" name="deliverable-rule-3">
            <a:extLst xmlns:a="http://schemas.openxmlformats.org/drawingml/2006/main">
              <a:ext uri="{FF2B5EF4-FFF2-40B4-BE49-F238E27FC236}">
                <a16:creationId xmlns:a16="http://schemas.microsoft.com/office/drawing/2014/main" id="{F8E682CF-6CDE-4BA7-BA4D-27A60179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577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C"/>
            </a:solidFill>
            <a:prstDash val="solid"/>
          </a:ln>
        </p:spPr>
      </p:sp>
      <p:sp>
        <p:nvSpPr>
          <p:cNvPr id="15" name="deliverable-number-4">
            <a:extLst xmlns:a="http://schemas.openxmlformats.org/drawingml/2006/main">
              <a:ext uri="{FF2B5EF4-FFF2-40B4-BE49-F238E27FC236}">
                <a16:creationId xmlns:a16="http://schemas.microsoft.com/office/drawing/2014/main" id="{A6B2EA24-D303-4B68-9297-240B313A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8C28"/>
                </a:solidFill>
              </a:defRPr>
            </a:pPr>
            <a:r>
              <a:rPr sz="1575" b="1">
                <a:solidFill>
                  <a:srgbClr val="F28C28"/>
                </a:solidFill>
              </a:rPr>
              <a:t>04</a:t>
            </a:r>
          </a:p>
        </p:txBody>
      </p:sp>
      <p:sp>
        <p:nvSpPr>
          <p:cNvPr id="16" name="deliverable-heading-4">
            <a:extLst xmlns:a="http://schemas.openxmlformats.org/drawingml/2006/main">
              <a:ext uri="{FF2B5EF4-FFF2-40B4-BE49-F238E27FC236}">
                <a16:creationId xmlns:a16="http://schemas.microsoft.com/office/drawing/2014/main" id="{9D4FB7F5-1803-4A5C-95DF-9B90049E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482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Editable AMSoft proposal deck (.pptx)</a:t>
            </a:r>
          </a:p>
        </p:txBody>
      </p:sp>
      <p:sp>
        <p:nvSpPr>
          <p:cNvPr id="17" name="deliverable-body-4">
            <a:extLst xmlns:a="http://schemas.openxmlformats.org/drawingml/2006/main">
              <a:ext uri="{FF2B5EF4-FFF2-40B4-BE49-F238E27FC236}">
                <a16:creationId xmlns:a16="http://schemas.microsoft.com/office/drawing/2014/main" id="{3FED04BA-372C-4814-89A1-C8F73D64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911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5C7D9"/>
                </a:solidFill>
              </a:defRPr>
            </a:pPr>
            <a:r>
              <a:rPr sz="1275">
                <a:solidFill>
                  <a:srgbClr val="B5C7D9"/>
                </a:solidFill>
              </a:rPr>
              <a:t>A decision-ready narrative for approval, discussion, and handoff.</a:t>
            </a:r>
          </a:p>
        </p:txBody>
      </p:sp>
      <p:sp>
        <p:nvSpPr>
          <p:cNvPr id="18" name="deliverable-rule-4">
            <a:extLst xmlns:a="http://schemas.openxmlformats.org/drawingml/2006/main">
              <a:ext uri="{FF2B5EF4-FFF2-40B4-BE49-F238E27FC236}">
                <a16:creationId xmlns:a16="http://schemas.microsoft.com/office/drawing/2014/main" id="{1F98551A-460D-4BB9-8DB1-B1BE58F3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864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C"/>
            </a:solidFill>
            <a:prstDash val="solid"/>
          </a:ln>
        </p:spPr>
      </p:sp>
      <p:sp>
        <p:nvSpPr>
          <p:cNvPr id="19" name="deliverable-side-note">
            <a:extLst xmlns:a="http://schemas.openxmlformats.org/drawingml/2006/main">
              <a:ext uri="{FF2B5EF4-FFF2-40B4-BE49-F238E27FC236}">
                <a16:creationId xmlns:a16="http://schemas.microsoft.com/office/drawing/2014/main" id="{423E8D43-489B-48FC-9AF4-6D07754B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0E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liverable-side-note-title">
            <a:extLst xmlns:a="http://schemas.openxmlformats.org/drawingml/2006/main">
              <a:ext uri="{FF2B5EF4-FFF2-40B4-BE49-F238E27FC236}">
                <a16:creationId xmlns:a16="http://schemas.microsoft.com/office/drawing/2014/main" id="{A99BB81C-5EE2-414B-A65E-73B62E2A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Ready for the next conversation.</a:t>
            </a:r>
          </a:p>
        </p:txBody>
      </p:sp>
      <p:sp>
        <p:nvSpPr>
          <p:cNvPr id="21" name="deliverable-side-note-body">
            <a:extLst xmlns:a="http://schemas.openxmlformats.org/drawingml/2006/main">
              <a:ext uri="{FF2B5EF4-FFF2-40B4-BE49-F238E27FC236}">
                <a16:creationId xmlns:a16="http://schemas.microsoft.com/office/drawing/2014/main" id="{F3CA127D-0E9D-4AD1-A961-CF77F0A3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5F1EE"/>
                </a:solidFill>
              </a:defRPr>
            </a:pPr>
            <a:r>
              <a:rPr sz="1425">
                <a:solidFill>
                  <a:srgbClr val="D5F1EE"/>
                </a:solidFill>
              </a:rPr>
              <a:t>Every claim has a source or a stated uncertainty. Every recommendation has a next step.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F3AA7AB-0BC2-442C-A45E-EBA0503A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C"/>
            </a:solidFill>
            <a:prstDash val="solid"/>
          </a:ln>
        </p:spPr>
      </p:sp>
      <p:sp>
        <p:nvSpPr>
          <p:cNvPr id="2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8FF6469-6262-4B50-8BDF-A5200301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AMSOFT  /  SEO &amp; GROWTH</a:t>
            </a:r>
          </a:p>
        </p:txBody>
      </p:sp>
      <p:sp>
        <p:nvSpPr>
          <p:cNvPr id="2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ABF4A2C4-DB4F-4B45-A14C-1191E93C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DELIVERABLE</a:t>
            </a:r>
          </a:p>
        </p:txBody>
      </p:sp>
    </p:spTree>
    <p:extLst>
      <p:ext uri="{BB962C8B-B14F-4D97-AF65-F5344CB8AC3E}">
        <p14:creationId xmlns:p14="http://schemas.microsoft.com/office/powerpoint/2010/main" val="2139210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C8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orange-bar">
            <a:extLst xmlns:a="http://schemas.openxmlformats.org/drawingml/2006/main">
              <a:ext uri="{FF2B5EF4-FFF2-40B4-BE49-F238E27FC236}">
                <a16:creationId xmlns:a16="http://schemas.microsoft.com/office/drawing/2014/main" id="{38787F8D-2C37-4251-985E-880C0D83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F5B280C6-BF31-4D4E-9EE1-45EA3A4B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5F1EE"/>
                </a:solidFill>
              </a:defRPr>
            </a:pPr>
            <a:r>
              <a:rPr sz="1125" b="1">
                <a:solidFill>
                  <a:srgbClr val="D5F1EE"/>
                </a:solidFill>
              </a:rPr>
              <a:t>AMSOFT  /  NEXT STEP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41D4EB7-9038-4EBC-A3BF-769693DC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90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clear start keeps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the work honest.</a:t>
            </a:r>
          </a:p>
        </p:txBody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9D39900D-3C81-48A2-AE72-9941A7D8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5F1EE"/>
                </a:solidFill>
              </a:defRPr>
            </a:pPr>
            <a:r>
              <a:rPr sz="1800">
                <a:solidFill>
                  <a:srgbClr val="D5F1EE"/>
                </a:solidFill>
              </a:rPr>
              <a:t>Confirm the audit charter, build the evidence baseline, and return with the proposal the team can choose from.</a:t>
            </a:r>
          </a:p>
        </p:txBody>
      </p:sp>
      <p:sp>
        <p:nvSpPr>
          <p:cNvPr id="5" name="close-inputs">
            <a:extLst xmlns:a="http://schemas.openxmlformats.org/drawingml/2006/main">
              <a:ext uri="{FF2B5EF4-FFF2-40B4-BE49-F238E27FC236}">
                <a16:creationId xmlns:a16="http://schemas.microsoft.com/office/drawing/2014/main" id="{CD125DB8-9CAC-45EC-BC9B-5EBCF51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SITE + MARKET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BUSINESS OUTCOME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ACCESS BOUNDARY</a:t>
            </a:r>
          </a:p>
        </p:txBody>
      </p:sp>
      <p:sp>
        <p:nvSpPr>
          <p:cNvPr id="6" name="close-rule">
            <a:extLst xmlns:a="http://schemas.openxmlformats.org/drawingml/2006/main">
              <a:ext uri="{FF2B5EF4-FFF2-40B4-BE49-F238E27FC236}">
                <a16:creationId xmlns:a16="http://schemas.microsoft.com/office/drawing/2014/main" id="{C42A0A94-B456-41DD-A587-9FC38E9B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D1CB"/>
            </a:solidFill>
            <a:prstDash val="solid"/>
          </a:ln>
        </p:spPr>
      </p:sp>
      <p:sp>
        <p:nvSpPr>
          <p:cNvPr id="7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FA8EB587-391F-4A8D-B577-21E0CE0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5F1EE"/>
                </a:solidFill>
              </a:defRPr>
            </a:pPr>
            <a:r>
              <a:rPr sz="1200">
                <a:solidFill>
                  <a:srgbClr val="D5F1EE"/>
                </a:solidFill>
              </a:rPr>
              <a:t>Prepared for AMSoft  ·  Illustrative proposal template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29E4D8-3438-4782-826E-7654CAA6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6C"/>
            </a:solidFill>
            <a:prstDash val="solid"/>
          </a:ln>
        </p:spPr>
      </p:sp>
      <p:sp>
        <p:nvSpPr>
          <p:cNvPr id="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8610DF9-C8D7-4A04-BD21-FC6BE4C2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AMSOFT  /  SEO &amp; GROWTH</a:t>
            </a:r>
          </a:p>
        </p:txBody>
      </p:sp>
      <p:sp>
        <p:nvSpPr>
          <p:cNvPr id="1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01F2737D-E15A-44EC-8172-31E29326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1504342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2026-08-07T05:39:32.5790000Z</dcterms:created>
  <dcterms:modified xsi:type="dcterms:W3CDTF">2026-08-07T05:39:32.5790000Z</dcterms:modified>
</coreProperties>
</file>